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BIG DATA &amp; 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HEALTH STATUS PREDICTION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Machine Learning-Based Approach for Early Risk Identification Using 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10362895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PROJECT PRESENTATION &amp; DEFENSE  |  SUBMITTED 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977639"/>
            <a:ext cx="1874519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160520"/>
            <a:ext cx="1691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Hanna Sabik</a:t>
            </a:r>
          </a:p>
          <a:p>
            <a:pPr>
              <a:spcBef>
                <a:spcPts val="800"/>
              </a:spcBef>
              <a:defRPr sz="1200">
                <a:solidFill>
                  <a:srgbClr val="38BDF8"/>
                </a:solidFill>
              </a:defRPr>
            </a:pPr>
            <a:r>
              <a:t>ICE24AD028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3977639"/>
            <a:ext cx="1874519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4160520"/>
            <a:ext cx="1691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Rinu Fathima MS</a:t>
            </a:r>
          </a:p>
          <a:p>
            <a:pPr>
              <a:spcBef>
                <a:spcPts val="800"/>
              </a:spcBef>
              <a:defRPr sz="1200">
                <a:solidFill>
                  <a:srgbClr val="38BDF8"/>
                </a:solidFill>
              </a:defRPr>
            </a:pPr>
            <a:r>
              <a:t>ICE24AD055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977639"/>
            <a:ext cx="1874519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4160520"/>
            <a:ext cx="1691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Hiba Fathima PS</a:t>
            </a:r>
          </a:p>
          <a:p>
            <a:pPr>
              <a:spcBef>
                <a:spcPts val="800"/>
              </a:spcBef>
              <a:defRPr sz="1200">
                <a:solidFill>
                  <a:srgbClr val="38BDF8"/>
                </a:solidFill>
              </a:defRPr>
            </a:pPr>
            <a:r>
              <a:t>ICE24AD031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977639"/>
            <a:ext cx="1874519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4160520"/>
            <a:ext cx="1691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Fouzan Afeef</a:t>
            </a:r>
          </a:p>
          <a:p>
            <a:pPr>
              <a:spcBef>
                <a:spcPts val="800"/>
              </a:spcBef>
              <a:defRPr sz="1200">
                <a:solidFill>
                  <a:srgbClr val="38BDF8"/>
                </a:solidFill>
              </a:defRPr>
            </a:pPr>
            <a:r>
              <a:t>ICE24AD025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977639"/>
            <a:ext cx="1874519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4160520"/>
            <a:ext cx="1691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Akhil Raj</a:t>
            </a:r>
          </a:p>
          <a:p>
            <a:pPr>
              <a:spcBef>
                <a:spcPts val="800"/>
              </a:spcBef>
              <a:defRPr sz="1200">
                <a:solidFill>
                  <a:srgbClr val="38BDF8"/>
                </a:solidFill>
              </a:defRPr>
            </a:pPr>
            <a:r>
              <a:t>ICE24AD007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Project Abstract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949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Overview of the Project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2563EB"/>
                </a:solidFill>
              </a:rPr>
              <a:t>Significance: </a:t>
            </a:r>
            <a:r>
              <a:rPr sz="1200">
                <a:solidFill>
                  <a:srgbClr val="0F172A"/>
                </a:solidFill>
              </a:rPr>
              <a:t>Health is one of the most critical aspects of human life. Early identification of potential health risks plays a vital role in preventing severe chronic medical conditions.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2563EB"/>
                </a:solidFill>
              </a:rPr>
              <a:t>ML Approach: </a:t>
            </a:r>
            <a:r>
              <a:rPr sz="1200">
                <a:solidFill>
                  <a:srgbClr val="0F172A"/>
                </a:solidFill>
              </a:rPr>
              <a:t>This project develops a machine learning system using R Programming to predict individual health status by analyzing multi-dimensional biometric and lifestyle attributes.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2563EB"/>
                </a:solidFill>
              </a:rPr>
              <a:t>Parameter Scope: </a:t>
            </a:r>
            <a:r>
              <a:rPr sz="1200">
                <a:solidFill>
                  <a:srgbClr val="0F172A"/>
                </a:solidFill>
              </a:rPr>
              <a:t>Evaluates 13 clinically relevant attributes including Age, Gender, Blood Pressure, Blood Glucose, BMI, Heart Rate, Physical Activity, and Lifestyle Habits (Smoking, Alcohol, Stress).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2563EB"/>
                </a:solidFill>
              </a:rPr>
              <a:t>Multi-Model Benchmark: </a:t>
            </a:r>
            <a:r>
              <a:rPr sz="1200">
                <a:solidFill>
                  <a:srgbClr val="0F172A"/>
                </a:solidFill>
              </a:rPr>
              <a:t>Implements and benchmarks 4 key classification algorithms: Logistic Regression, Decision Tree, Random Forest, and Support Vector Machine (SVM).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2563EB"/>
                </a:solidFill>
              </a:rPr>
              <a:t>Practical Utility: </a:t>
            </a:r>
            <a:r>
              <a:rPr sz="1200">
                <a:solidFill>
                  <a:srgbClr val="0F172A"/>
                </a:solidFill>
              </a:rPr>
              <a:t>Provides a simple, accessible prediction platform delivering clear health risk stratification to foster proactive health awareness and timely medical consultation.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5448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64208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3,000+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Clinical Records 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74320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852928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9488"/>
                </a:solidFill>
              </a:defRPr>
            </a:pPr>
            <a:r>
              <a:t>13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Biometric &amp; Lifestyle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3192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041648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4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ML Classification Algorithms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512064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5230368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94.0%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Peak Predictive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MOTIVATION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The Healthcare Challenge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3A8A"/>
                </a:solidFill>
              </a:rPr>
              <a:t>Asymptomatic Progression: </a:t>
            </a:r>
            <a:r>
              <a:rPr sz="1150">
                <a:solidFill>
                  <a:srgbClr val="0F172A"/>
                </a:solidFill>
              </a:rPr>
              <a:t>Serious conditions like hypertension, diabetes, and cardiovascular diseases often progress silently without early outward symptoms.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3A8A"/>
                </a:solidFill>
              </a:rPr>
              <a:t>Multi-Factor Complexity: </a:t>
            </a:r>
            <a:r>
              <a:rPr sz="1150">
                <a:solidFill>
                  <a:srgbClr val="0F172A"/>
                </a:solidFill>
              </a:rPr>
              <a:t>Health data spans disparate vitals (BP, glucose) and daily habits (sleep, exercise, smoking). Manual synthesis of these interconnected factors is challenging.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3A8A"/>
                </a:solidFill>
              </a:rPr>
              <a:t>Delayed Medical Intervention: </a:t>
            </a:r>
            <a:r>
              <a:rPr sz="1150">
                <a:solidFill>
                  <a:srgbClr val="0F172A"/>
                </a:solidFill>
              </a:rPr>
              <a:t>Individuals often seek medical care only after acute complications emerge, drastically increasing treatment complexity and healthcare costs.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3A8A"/>
                </a:solidFill>
              </a:rPr>
              <a:t>Lack of Accessible Screening: </a:t>
            </a:r>
            <a:r>
              <a:rPr sz="1150">
                <a:solidFill>
                  <a:srgbClr val="0F172A"/>
                </a:solidFill>
              </a:rPr>
              <a:t>There is an absence of simple, preliminary assessment tools that empower citizens with continuous risk awareness between doctor visits.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Project Objectives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3A8A"/>
                </a:solidFill>
              </a:rPr>
              <a:t>Develop Automated Risk Classifier: </a:t>
            </a:r>
            <a:r>
              <a:rPr sz="1150">
                <a:solidFill>
                  <a:srgbClr val="0F172A"/>
                </a:solidFill>
              </a:rPr>
              <a:t>Build an intelligent predictive model in R capable of categorizing health status into Low Risk or High Risk with high precision.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3A8A"/>
                </a:solidFill>
              </a:rPr>
              <a:t>Holistic Parameter Integration: </a:t>
            </a:r>
            <a:r>
              <a:rPr sz="1150">
                <a:solidFill>
                  <a:srgbClr val="0F172A"/>
                </a:solidFill>
              </a:rPr>
              <a:t>Incorporate physiological measures alongside daily behavioral habits to deliver comprehensive health risk assessment.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3A8A"/>
                </a:solidFill>
              </a:rPr>
              <a:t>Multi-Algorithm Benchmarking: </a:t>
            </a:r>
            <a:r>
              <a:rPr sz="1150">
                <a:solidFill>
                  <a:srgbClr val="0F172A"/>
                </a:solidFill>
              </a:rPr>
              <a:t>Compare Logistic Regression, Decision Trees, Random Forests, and SVMs using Accuracy, Recall, Precision, and F1-score.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3A8A"/>
                </a:solidFill>
              </a:rPr>
              <a:t>Promote Preventive Healthcare: </a:t>
            </a:r>
            <a:r>
              <a:rPr sz="1150">
                <a:solidFill>
                  <a:srgbClr val="0F172A"/>
                </a:solidFill>
              </a:rPr>
              <a:t>Serve as an educational and preventive screening mechanism that alerts users when clinical follow-up is warranted.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Parameters Considered in Risk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1. Demographics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2563EB"/>
                </a:solidFill>
              </a:rPr>
              <a:t>Age
</a:t>
            </a:r>
            <a:r>
              <a:rPr sz="1150">
                <a:solidFill>
                  <a:srgbClr val="0F172A"/>
                </a:solidFill>
              </a:rPr>
              <a:t>Primary non-modifiable cardiovascular &amp; metabolic risk indicator (18–80 yrs).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2563EB"/>
                </a:solidFill>
              </a:rPr>
              <a:t>Gender
</a:t>
            </a:r>
            <a:r>
              <a:rPr sz="1150">
                <a:solidFill>
                  <a:srgbClr val="0F172A"/>
                </a:solidFill>
              </a:rPr>
              <a:t>Male / Female biological baseline stratification.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2563EB"/>
                </a:solidFill>
              </a:rPr>
              <a:t>Target Output
</a:t>
            </a:r>
            <a:r>
              <a:rPr sz="1150">
                <a:solidFill>
                  <a:srgbClr val="0F172A"/>
                </a:solidFill>
              </a:rPr>
              <a:t>Health Risk Status:
• Low Risk (Normal)
• High Risk (Clinical Attention Advised)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2. Biometric Indicators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D9488"/>
                </a:solidFill>
              </a:rPr>
              <a:t>Blood Pressure (mmHg): </a:t>
            </a:r>
            <a:r>
              <a:rPr sz="1100">
                <a:solidFill>
                  <a:srgbClr val="0F172A"/>
                </a:solidFill>
              </a:rPr>
              <a:t>Systolic &amp; Diastolic BP. Key detector for Hypertension Stages 1 &amp; 2.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D9488"/>
                </a:solidFill>
              </a:rPr>
              <a:t>Blood Glucose (mg/dL): </a:t>
            </a:r>
            <a:r>
              <a:rPr sz="1100">
                <a:solidFill>
                  <a:srgbClr val="0F172A"/>
                </a:solidFill>
              </a:rPr>
              <a:t>Fasting glucose; detects prediabetes (&gt;=100) &amp; diabetes (&gt;=126).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D9488"/>
                </a:solidFill>
              </a:rPr>
              <a:t>Body Mass Index (BMI): </a:t>
            </a:r>
            <a:r>
              <a:rPr sz="1100">
                <a:solidFill>
                  <a:srgbClr val="0F172A"/>
                </a:solidFill>
              </a:rPr>
              <a:t>Calculated weight/height²; classifies normal, overweight, obese.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D9488"/>
                </a:solidFill>
              </a:rPr>
              <a:t>Heart Rate (BPM): </a:t>
            </a:r>
            <a:r>
              <a:rPr sz="1100">
                <a:solidFill>
                  <a:srgbClr val="0F172A"/>
                </a:solidFill>
              </a:rPr>
              <a:t>Resting pulse indicator for cardiovascular autonomic health.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D9488"/>
                </a:solidFill>
              </a:rPr>
              <a:t>Total Cholesterol: </a:t>
            </a:r>
            <a:r>
              <a:rPr sz="1100">
                <a:solidFill>
                  <a:srgbClr val="0F172A"/>
                </a:solidFill>
              </a:rPr>
              <a:t>Lipid profile metric associated with arterial plaque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3. Lifestyle Habits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2563EB"/>
                </a:solidFill>
              </a:rPr>
              <a:t>Physical Activity: </a:t>
            </a:r>
            <a:r>
              <a:rPr sz="1100">
                <a:solidFill>
                  <a:srgbClr val="0F172A"/>
                </a:solidFill>
              </a:rPr>
              <a:t>Daily exercise minutes (0–120 mins). Directly modulates insulin sensitivity.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2563EB"/>
                </a:solidFill>
              </a:rPr>
              <a:t>Smoking Status: </a:t>
            </a:r>
            <a:r>
              <a:rPr sz="1100">
                <a:solidFill>
                  <a:srgbClr val="0F172A"/>
                </a:solidFill>
              </a:rPr>
              <a:t>Never / Former / Current smoker. Accelerates vascular endothelial damage.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2563EB"/>
                </a:solidFill>
              </a:rPr>
              <a:t>Alcohol Consumption: </a:t>
            </a:r>
            <a:r>
              <a:rPr sz="1100">
                <a:solidFill>
                  <a:srgbClr val="0F172A"/>
                </a:solidFill>
              </a:rPr>
              <a:t>None / Moderate / Heavy intake. Correlates with liver &amp; BP elevations.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2563EB"/>
                </a:solidFill>
              </a:rPr>
              <a:t>Sleep Duration: </a:t>
            </a:r>
            <a:r>
              <a:rPr sz="1100">
                <a:solidFill>
                  <a:srgbClr val="0F172A"/>
                </a:solidFill>
              </a:rPr>
              <a:t>Hours of restorative sleep per night (target 7–8 hrs).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2563EB"/>
                </a:solidFill>
              </a:rPr>
              <a:t>Stress Level: </a:t>
            </a:r>
            <a:r>
              <a:rPr sz="1100">
                <a:solidFill>
                  <a:srgbClr val="0F172A"/>
                </a:solidFill>
              </a:rPr>
              <a:t>Low / Medium / High. Drives chronic cortisol &amp; sympathetic tone.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METHODOLOGY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System Architecture: End-to-End ML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2996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29968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0299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175564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1. Data Collection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Gathering &amp; simulating 3,000 clinically grounded health records with 13 biometric and lifestyle attributes.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202996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645920"/>
            <a:ext cx="2029968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45920"/>
            <a:ext cx="20299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194560"/>
            <a:ext cx="175564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2. Preprocessing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Data cleaning, factor level encoding, validation, and stratified 80% Train / 20% Test partitioning.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645920"/>
            <a:ext cx="202996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645920"/>
            <a:ext cx="2029968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645920"/>
            <a:ext cx="20299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194560"/>
            <a:ext cx="175564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3. Model Training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Fitting 4 classification algorithms: Logistic Regression, Decision Tree, Random Forest, &amp; SVM.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645920"/>
            <a:ext cx="202996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645920"/>
            <a:ext cx="2029968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645920"/>
            <a:ext cx="20299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194560"/>
            <a:ext cx="175564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4. Model Evaluation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Benchmarking models on holdout test set using Accuracy, Precision, Recall, F1, and Confusion Matrix.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645920"/>
            <a:ext cx="202996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1645920"/>
            <a:ext cx="2029968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645920"/>
            <a:ext cx="20299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194560"/>
            <a:ext cx="175564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5. Risk Prediction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Inference engine mapping new patient metrics to Risk Category with probability score &amp; health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Why R Programming for Healthcare ML?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Purpose-Built for Statistics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R is natively engineered for statistical computing, hypothesis testing, and rigorous biomedical data analysis, making it the premier choice in biostatistics.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Standard Machine Learning Packages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Includes industry-proven, high-performance CRAN libraries:</a:t>
            </a:r>
            <a:br/>
            <a:r>
              <a:t>• rpart for Decision Trees</a:t>
            </a:r>
            <a:br/>
            <a:r>
              <a:t>• randomForest for ensemble bagging</a:t>
            </a:r>
            <a:br/>
            <a:r>
              <a:t>• e1071 for Support Vector Machines</a:t>
            </a:r>
            <a:br/>
            <a:r>
              <a:t>• stats for GLM Logistic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Publication-Quality Visualizations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The ggplot2 grammar-of-graphics ecosystem produces pristine, publication-grade charts for performance comparisons, ROC curves, and clinical variable distributions.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Clean, Simple, Reproducible Scripts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R code offers concise, transparent scripting where complete data preprocessing, training, evaluation, and patient inference can run effortlessly in a single clear script.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ALGORITHM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Machine Learning Classification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762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Logistic Regression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Base R stats::glm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A probabilistic linear classification model predicting the log-odds of a patient being High Risk. Highly interpretable coefficients and fast execution. Serves as our gold standard benchmark.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5448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737360"/>
            <a:ext cx="21762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Decision Tree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rpart library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A tree-based rule classifier that recursively splits patient data based on information gain. Transparent if-then decision paths make it intuitively explainable to healthcare practitioners.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37360"/>
            <a:ext cx="21762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Random Forest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randomForest library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An ensemble learning technique combining 100 decorrelated decision trees via bootstrap aggregation. Resilient against overfitting, robust with non-linear interactions, and yields feature importance.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55448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737360"/>
            <a:ext cx="21762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E22CE"/>
                </a:solidFill>
              </a:defRPr>
            </a:pPr>
            <a:r>
              <a:t>Support Vector Machine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e1071 library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A maximum-margin classifier utilizing a Radial Basis Function (RBF) kernel to project high-dimensional biometric attributes into separable feature space. Excels in complex decision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EMPIRICAL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Model Evaluation &amp; Performance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766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Holdout Test Set Performance (600 Samples)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2377440"/>
          <a:ext cx="6217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60120"/>
                <a:gridCol w="960120"/>
                <a:gridCol w="960120"/>
                <a:gridCol w="960120"/>
              </a:tblGrid>
              <a:tr h="694944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94.00%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94.79%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87.50%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3A8A"/>
                          </a:solidFill>
                        </a:defRPr>
                      </a:pPr>
                      <a:r>
                        <a:t>91.00%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74.87%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72.45%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91.00%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90.96%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82.21%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Support Vector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93.67%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93.37%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87.98%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90.59%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554480"/>
            <a:ext cx="3657600" cy="2194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Top Performing Model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Logistic Regression achieved the highest overall accuracy of 94.00% and precision of 94.79%, with an F1-Score of 91.00%, confirming that the linear physiological boundaries provide exceptional calibration.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023360"/>
            <a:ext cx="3657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4206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Non-Linear Competitors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SVM (93.67%) and Random Forest (91.00%) also exhibited strong classification power, proving that both kernel tricking and decision forests handle biometric covariance reliably.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DATA ANALYTICS &amp;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Visualizations: Model Benchmark &amp; Feature Importance</a:t>
            </a:r>
          </a:p>
        </p:txBody>
      </p:sp>
      <p:pic>
        <p:nvPicPr>
          <p:cNvPr id="5" name="Picture 4" descr="simple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39502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554480"/>
            <a:ext cx="3840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Key Clinical Drivers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Fasting Blood Glucose
</a:t>
            </a:r>
            <a:r>
              <a:rPr sz="1100">
                <a:solidFill>
                  <a:srgbClr val="0F172A"/>
                </a:solidFill>
              </a:rPr>
              <a:t>Strongest single determinant of metabolic risk; spikes above 126 mg/dL sharply increase predicted risk.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Systolic Blood Pressure
</a:t>
            </a:r>
            <a:r>
              <a:rPr sz="1100">
                <a:solidFill>
                  <a:srgbClr val="0F172A"/>
                </a:solidFill>
              </a:rPr>
              <a:t>Dominant cardiovascular indicator. Levels exceeding 140 mmHg strongly weight the model towards High Risk.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Age &amp; BMI
</a:t>
            </a:r>
            <a:r>
              <a:rPr sz="1100">
                <a:solidFill>
                  <a:srgbClr val="0F172A"/>
                </a:solidFill>
              </a:rPr>
              <a:t>Compound chronic multipliers; combined elevated BMI (&gt;30) and advanced age significantly elevate hazard scores.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Physical Activity &amp; Sleep
</a:t>
            </a:r>
            <a:r>
              <a:rPr sz="1100">
                <a:solidFill>
                  <a:srgbClr val="0F172A"/>
                </a:solidFill>
              </a:rPr>
              <a:t>Protective lifestyle buffers. Regular exercise (&gt;30 mins/day) and 7+ hours sleep actively mitigate risk scores.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INFERENCE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Demonstration: Patient Risk Categorization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PATIENT CASE 1: HIGH RISK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Demographics: </a:t>
            </a:r>
            <a:r>
              <a:rPr sz="1100">
                <a:solidFill>
                  <a:srgbClr val="0F172A"/>
                </a:solidFill>
              </a:rPr>
              <a:t>Age: 58 | Gender: Male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Biometrics: </a:t>
            </a:r>
            <a:r>
              <a:rPr sz="1100">
                <a:solidFill>
                  <a:srgbClr val="0F172A"/>
                </a:solidFill>
              </a:rPr>
              <a:t>BP: 150/95 mmHg | Glucose: 145 mg/dL
BMI: 31.5 (Obese) | Heart Rate: 88 bpm
Cholesterol: 250 mg/dL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Lifestyle: </a:t>
            </a:r>
            <a:r>
              <a:rPr sz="1100">
                <a:solidFill>
                  <a:srgbClr val="0F172A"/>
                </a:solidFill>
              </a:rPr>
              <a:t>Physical Activity: 10 mins/day | Smoker: Current
Alcohol: Moderate | Stress: High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ML Output: </a:t>
            </a:r>
            <a:r>
              <a:rPr sz="1100">
                <a:solidFill>
                  <a:srgbClr val="0F172A"/>
                </a:solidFill>
              </a:rPr>
              <a:t>Status: HIGH RISK (Risk Score: 100%)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Clinical Advice: </a:t>
            </a:r>
            <a:r>
              <a:rPr sz="1100">
                <a:solidFill>
                  <a:srgbClr val="0F172A"/>
                </a:solidFill>
              </a:rPr>
              <a:t>Attention advised: Strongly recommended to schedule consultation with a physician for cardiac and glycemic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PATIENT CASE 2: LOW RISK (NORMAL)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Demographics: </a:t>
            </a:r>
            <a:r>
              <a:rPr sz="1100">
                <a:solidFill>
                  <a:srgbClr val="0F172A"/>
                </a:solidFill>
              </a:rPr>
              <a:t>Age: 28 | Gender: Female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Biometrics: </a:t>
            </a:r>
            <a:r>
              <a:rPr sz="1100">
                <a:solidFill>
                  <a:srgbClr val="0F172A"/>
                </a:solidFill>
              </a:rPr>
              <a:t>BP: 115/75 mmHg | Glucose: 85 mg/dL
BMI: 21.8 (Normal) | Heart Rate: 68 bpm
Cholesterol: 170 mg/dL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Lifestyle: </a:t>
            </a:r>
            <a:r>
              <a:rPr sz="1100">
                <a:solidFill>
                  <a:srgbClr val="0F172A"/>
                </a:solidFill>
              </a:rPr>
              <a:t>Physical Activity: 50 mins/day | Smoker: Never
Alcohol: None | Stress: Low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ML Output: </a:t>
            </a:r>
            <a:r>
              <a:rPr sz="1100">
                <a:solidFill>
                  <a:srgbClr val="0F172A"/>
                </a:solidFill>
              </a:rPr>
              <a:t>Status: LOW RISK (Risk Score: 0.0%)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Clinical Advice: </a:t>
            </a:r>
            <a:r>
              <a:rPr sz="1100">
                <a:solidFill>
                  <a:srgbClr val="0F172A"/>
                </a:solidFill>
              </a:rPr>
              <a:t>All health metrics are within optimal limits. Maintain regular aerobic exercise and balanced nutrition.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VALUE PROPOSITION &amp;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Benefits, Applications &amp; Medical Disclaimer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Key Benefits &amp; Applications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Early Risk Detection: </a:t>
            </a:r>
            <a:r>
              <a:rPr sz="1150">
                <a:solidFill>
                  <a:srgbClr val="0F172A"/>
                </a:solidFill>
              </a:rPr>
              <a:t>Identifies preliminary signs of health risks before severe symptoms develop.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Preventive Health Awareness: </a:t>
            </a:r>
            <a:r>
              <a:rPr sz="1150">
                <a:solidFill>
                  <a:srgbClr val="0F172A"/>
                </a:solidFill>
              </a:rPr>
              <a:t>Educates individuals on how personal lifestyle choices directly influence long-term health outcomes.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Encourages Timely Consultation: </a:t>
            </a:r>
            <a:r>
              <a:rPr sz="1150">
                <a:solidFill>
                  <a:srgbClr val="0F172A"/>
                </a:solidFill>
              </a:rPr>
              <a:t>Serves as an objective catalyst nudging high-risk individuals towards prompt clinical evaluation.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Demonstrates Practical AI in Healthcare: </a:t>
            </a:r>
            <a:r>
              <a:rPr sz="1150">
                <a:solidFill>
                  <a:srgbClr val="0F172A"/>
                </a:solidFill>
              </a:rPr>
              <a:t>Shows how standard machine learning in R provides accessible data-driven decision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54480"/>
            <a:ext cx="4937760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8308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C2626"/>
                </a:solidFill>
              </a:defRPr>
            </a:pPr>
            <a:r>
              <a:t>IMPORTANT MEDICAL DISCLAIMER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Supportive Tool Only: </a:t>
            </a:r>
            <a:r>
              <a:rPr sz="1150">
                <a:solidFill>
                  <a:srgbClr val="4B5563"/>
                </a:solidFill>
              </a:rPr>
              <a:t>The proposed system is strictly designed as a supportive prediction and awareness aid. It is NOT intended to replace professional medical diagnosis, clinical prescription, or doctor treatment.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Laboratory Confirmation: </a:t>
            </a:r>
            <a:r>
              <a:rPr sz="1150">
                <a:solidFill>
                  <a:srgbClr val="4B5563"/>
                </a:solidFill>
              </a:rPr>
              <a:t>Predictions are probabilistic indicators derived from inputted data. They must always be validated by qualified healthcare professionals through accredited medical tests.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Preventive Philosophy: </a:t>
            </a:r>
            <a:r>
              <a:rPr sz="1150">
                <a:solidFill>
                  <a:srgbClr val="4B5563"/>
                </a:solidFill>
              </a:rPr>
              <a:t>The primary mission of the system is fostering proactive health awareness and early risk mitigation.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SUMMARY &amp;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Project Conclusions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✓ Successfully developed and benchmarked a 4-model machine learning system in R for health risk prediction.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✓ Demonstrated outstanding predictive accuracy (94.00%) using Logistic Regression, with high specificity and recall.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✓ Proved that combining physiological biometrics with daily lifestyle habits offers robust early warning signals.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✓ Built a clean, simple, and reproducible R codebase easily usable for academic demonstration and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Future Roadmap &amp; Extensions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Smartwatch / IoT Integration: </a:t>
            </a:r>
            <a:r>
              <a:rPr sz="1100">
                <a:solidFill>
                  <a:srgbClr val="CBD5E1"/>
                </a:solidFill>
              </a:rPr>
              <a:t>Continuous automated vitals streaming via wearable devices (Apple Health / Google Fit).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Multi-Class Disease Specifics: </a:t>
            </a:r>
            <a:r>
              <a:rPr sz="1100">
                <a:solidFill>
                  <a:srgbClr val="CBD5E1"/>
                </a:solidFill>
              </a:rPr>
              <a:t>Expanding from binary risk to specific disorder subcategories (Cardiovascular, Type 2 Diabetes, Fatty Liver).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Mobile &amp; Cloud Deployment: </a:t>
            </a:r>
            <a:r>
              <a:rPr sz="1100">
                <a:solidFill>
                  <a:srgbClr val="CBD5E1"/>
                </a:solidFill>
              </a:rPr>
              <a:t>Packaging the R prediction engine into a lightweight cross-platform mobile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DD4BF"/>
                </a:solidFill>
              </a:defRPr>
            </a:pPr>
            <a:r>
              <a:t>Thank You!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